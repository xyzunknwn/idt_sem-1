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8" r:id="rId1"/>
  </p:sldMasterIdLst>
  <p:sldIdLst>
    <p:sldId id="267" r:id="rId2"/>
    <p:sldId id="257" r:id="rId3"/>
    <p:sldId id="256" r:id="rId4"/>
    <p:sldId id="264" r:id="rId5"/>
    <p:sldId id="258" r:id="rId6"/>
    <p:sldId id="259" r:id="rId7"/>
    <p:sldId id="265" r:id="rId8"/>
    <p:sldId id="262" r:id="rId9"/>
    <p:sldId id="261" r:id="rId10"/>
    <p:sldId id="266" r:id="rId11"/>
    <p:sldId id="263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uryaraj2969@gmail.com" userId="13ae97bc436f8137" providerId="LiveId" clId="{E5E42243-9DB3-4DAD-8162-1A95161DF4AA}"/>
    <pc:docChg chg="modSld">
      <pc:chgData name="shouryaraj2969@gmail.com" userId="13ae97bc436f8137" providerId="LiveId" clId="{E5E42243-9DB3-4DAD-8162-1A95161DF4AA}" dt="2026-02-09T18:23:40.028" v="67" actId="20577"/>
      <pc:docMkLst>
        <pc:docMk/>
      </pc:docMkLst>
      <pc:sldChg chg="modSp mod">
        <pc:chgData name="shouryaraj2969@gmail.com" userId="13ae97bc436f8137" providerId="LiveId" clId="{E5E42243-9DB3-4DAD-8162-1A95161DF4AA}" dt="2026-02-09T18:23:40.028" v="67" actId="20577"/>
        <pc:sldMkLst>
          <pc:docMk/>
          <pc:sldMk cId="4104584593" sldId="267"/>
        </pc:sldMkLst>
        <pc:spChg chg="mod">
          <ac:chgData name="shouryaraj2969@gmail.com" userId="13ae97bc436f8137" providerId="LiveId" clId="{E5E42243-9DB3-4DAD-8162-1A95161DF4AA}" dt="2026-02-09T18:23:40.028" v="67" actId="20577"/>
          <ac:spMkLst>
            <pc:docMk/>
            <pc:sldMk cId="4104584593" sldId="267"/>
            <ac:spMk id="22" creationId="{E6A82F50-E791-9A8A-B7EF-FDD7BCE47E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pPr>
            <a:r>
              <a:rPr lang="en-US" sz="2800" b="1" dirty="0">
                <a:latin typeface="+mj-lt"/>
              </a:rPr>
              <a:t>Statistics on Road accidents in 2025</a:t>
            </a:r>
          </a:p>
        </c:rich>
      </c:tx>
      <c:layout>
        <c:manualLayout>
          <c:xMode val="edge"/>
          <c:yMode val="edge"/>
          <c:x val="0.27417082490100592"/>
          <c:y val="3.44313026649229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7309220431654873"/>
          <c:y val="0.29855927453544689"/>
          <c:w val="0.42690779568345122"/>
          <c:h val="0.5897752803606244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Lives lost In road acciedents in 2025</c:v>
                </c:pt>
              </c:strCache>
            </c:strRef>
          </c:tx>
          <c:dPt>
            <c:idx val="0"/>
            <c:bubble3D val="0"/>
            <c:spPr>
              <a:solidFill>
                <a:srgbClr val="FF0000">
                  <a:alpha val="6509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B5-4122-809D-79A399EB70C8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2A6-4DD5-81E4-1D0D65E9303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B5-4122-809D-79A399EB70C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B5-4122-809D-79A399EB70C8}"/>
              </c:ext>
            </c:extLst>
          </c:dPt>
          <c:dLbls>
            <c:dLbl>
              <c:idx val="0"/>
              <c:layout>
                <c:manualLayout>
                  <c:x val="-0.11666577041256088"/>
                  <c:y val="8.924837876374923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Adobe Ming Std L" panose="02020300000000000000" pitchFamily="18" charset="-128"/>
                      <a:ea typeface="Adobe Ming Std L" panose="02020300000000000000" pitchFamily="18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B5-4122-809D-79A399EB70C8}"/>
                </c:ext>
              </c:extLst>
            </c:dLbl>
            <c:dLbl>
              <c:idx val="1"/>
              <c:layout>
                <c:manualLayout>
                  <c:x val="0.10768082300027028"/>
                  <c:y val="-0.277276799949373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Adobe Ming Std L" panose="02020300000000000000" pitchFamily="18" charset="-128"/>
                      <a:ea typeface="Adobe Ming Std L" panose="02020300000000000000" pitchFamily="18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2A6-4DD5-81E4-1D0D65E930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dobe Ming Std L" panose="02020300000000000000" pitchFamily="18" charset="-128"/>
                    <a:ea typeface="Adobe Ming Std L" panose="02020300000000000000" pitchFamily="18" charset="-128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Deaths</c:v>
                </c:pt>
                <c:pt idx="1">
                  <c:v>Survivors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0.26</c:v>
                </c:pt>
                <c:pt idx="1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A6-4DD5-81E4-1D0D65E9303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50107979947808146"/>
          <c:y val="0.87879706197653673"/>
          <c:w val="0.49892018752443679"/>
          <c:h val="0.10394516859961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0.02372</cdr:x>
      <cdr:y>0.3167</cdr:y>
    </cdr:from>
    <cdr:to>
      <cdr:x>0.49818</cdr:x>
      <cdr:y>0.78571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4A15E10-337C-3DB3-013E-CE795F4EB823}"/>
            </a:ext>
          </a:extLst>
        </cdr:cNvPr>
        <cdr:cNvSpPr txBox="1"/>
      </cdr:nvSpPr>
      <cdr:spPr>
        <a:xfrm xmlns:a="http://schemas.openxmlformats.org/drawingml/2006/main">
          <a:off x="120072" y="1322221"/>
          <a:ext cx="2401455" cy="1958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IN" sz="1100" kern="1200" dirty="0"/>
        </a:p>
      </cdr:txBody>
    </cdr:sp>
  </cdr:relSizeAnchor>
  <cdr:relSizeAnchor xmlns:cdr="http://schemas.openxmlformats.org/drawingml/2006/chartDrawing">
    <cdr:from>
      <cdr:x>0.01344</cdr:x>
      <cdr:y>0.29516</cdr:y>
    </cdr:from>
    <cdr:to>
      <cdr:x>0.51218</cdr:x>
      <cdr:y>0.66843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7618D879-835E-46CD-7B3F-A0024442378B}"/>
            </a:ext>
          </a:extLst>
        </cdr:cNvPr>
        <cdr:cNvSpPr txBox="1"/>
      </cdr:nvSpPr>
      <cdr:spPr>
        <a:xfrm xmlns:a="http://schemas.openxmlformats.org/drawingml/2006/main">
          <a:off x="75440" y="1324612"/>
          <a:ext cx="2799519" cy="167515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>
          <a:normAutofit/>
        </a:bodyPr>
        <a:lstStyle xmlns:a="http://schemas.openxmlformats.org/drawingml/2006/main"/>
        <a:p xmlns:a="http://schemas.openxmlformats.org/drawingml/2006/main">
          <a:r>
            <a:rPr lang="en-IN" sz="1200" kern="1200" dirty="0">
              <a:solidFill>
                <a:schemeClr val="tx1"/>
              </a:solidFill>
              <a:latin typeface="+mn-lt"/>
              <a:ea typeface="Adobe Heiti Std R" panose="020B0400000000000000" pitchFamily="34" charset="-128"/>
            </a:rPr>
            <a:t>During the annual year of 2025,</a:t>
          </a:r>
        </a:p>
        <a:p xmlns:a="http://schemas.openxmlformats.org/drawingml/2006/main">
          <a:r>
            <a:rPr lang="en-IN" sz="1200" kern="1200" dirty="0">
              <a:solidFill>
                <a:schemeClr val="tx1"/>
              </a:solidFill>
              <a:ea typeface="Adobe Heiti Std R" panose="020B0400000000000000" pitchFamily="34" charset="-128"/>
            </a:rPr>
            <a:t>many people lost their lives due</a:t>
          </a:r>
        </a:p>
        <a:p xmlns:a="http://schemas.openxmlformats.org/drawingml/2006/main">
          <a:r>
            <a:rPr lang="en-IN" sz="1200" kern="1200" dirty="0">
              <a:solidFill>
                <a:schemeClr val="tx1"/>
              </a:solidFill>
              <a:ea typeface="Adobe Heiti Std R" panose="020B0400000000000000" pitchFamily="34" charset="-128"/>
            </a:rPr>
            <a:t>t</a:t>
          </a:r>
          <a:r>
            <a:rPr lang="en-IN" sz="1200" kern="1200" dirty="0">
              <a:solidFill>
                <a:schemeClr val="tx1"/>
              </a:solidFill>
              <a:latin typeface="+mn-lt"/>
              <a:ea typeface="Adobe Heiti Std R" panose="020B0400000000000000" pitchFamily="34" charset="-128"/>
            </a:rPr>
            <a:t>o often occurring road accidents</a:t>
          </a:r>
        </a:p>
        <a:p xmlns:a="http://schemas.openxmlformats.org/drawingml/2006/main">
          <a:r>
            <a:rPr lang="en-IN" sz="1200" kern="1200" dirty="0">
              <a:solidFill>
                <a:schemeClr val="tx1"/>
              </a:solidFill>
              <a:ea typeface="Adobe Heiti Std R" panose="020B0400000000000000" pitchFamily="34" charset="-128"/>
            </a:rPr>
            <a:t>this chart here represents the count </a:t>
          </a:r>
        </a:p>
        <a:p xmlns:a="http://schemas.openxmlformats.org/drawingml/2006/main">
          <a:r>
            <a:rPr lang="en-IN" sz="1200" kern="1200" dirty="0">
              <a:solidFill>
                <a:schemeClr val="tx1"/>
              </a:solidFill>
              <a:ea typeface="Adobe Heiti Std R" panose="020B0400000000000000" pitchFamily="34" charset="-128"/>
            </a:rPr>
            <a:t>of a people who lost their with </a:t>
          </a:r>
        </a:p>
        <a:p xmlns:a="http://schemas.openxmlformats.org/drawingml/2006/main">
          <a:r>
            <a:rPr lang="en-IN" sz="1200" kern="1200" dirty="0">
              <a:solidFill>
                <a:schemeClr val="tx1"/>
              </a:solidFill>
              <a:ea typeface="Adobe Heiti Std R" panose="020B0400000000000000" pitchFamily="34" charset="-128"/>
            </a:rPr>
            <a:t>respect to the survivors</a:t>
          </a:r>
        </a:p>
      </cdr:txBody>
    </cdr:sp>
  </cdr:relSizeAnchor>
  <cdr:relSizeAnchor xmlns:cdr="http://schemas.openxmlformats.org/drawingml/2006/chartDrawing">
    <cdr:from>
      <cdr:x>0</cdr:x>
      <cdr:y>0.667</cdr:y>
    </cdr:from>
    <cdr:to>
      <cdr:x>0.42996</cdr:x>
      <cdr:y>0.7674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5CB63733-B521-2E5E-C5E9-CD4BB5FAE486}"/>
            </a:ext>
          </a:extLst>
        </cdr:cNvPr>
        <cdr:cNvSpPr txBox="1"/>
      </cdr:nvSpPr>
      <cdr:spPr>
        <a:xfrm xmlns:a="http://schemas.openxmlformats.org/drawingml/2006/main">
          <a:off x="0" y="2993339"/>
          <a:ext cx="2302723" cy="45056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IN" sz="2000" kern="1200" dirty="0">
              <a:solidFill>
                <a:schemeClr val="tx1"/>
              </a:solidFill>
            </a:rPr>
            <a:t>Total deaths: 1.6L</a:t>
          </a:r>
        </a:p>
      </cdr:txBody>
    </cdr:sp>
  </cdr:relSizeAnchor>
  <cdr:relSizeAnchor xmlns:cdr="http://schemas.openxmlformats.org/drawingml/2006/chartDrawing">
    <cdr:from>
      <cdr:x>0</cdr:x>
      <cdr:y>0.73872</cdr:y>
    </cdr:from>
    <cdr:to>
      <cdr:x>0.37215</cdr:x>
      <cdr:y>0.83912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FE7DDFA4-D26B-E257-BDC1-B3594CD37F18}"/>
            </a:ext>
          </a:extLst>
        </cdr:cNvPr>
        <cdr:cNvSpPr txBox="1"/>
      </cdr:nvSpPr>
      <cdr:spPr>
        <a:xfrm xmlns:a="http://schemas.openxmlformats.org/drawingml/2006/main">
          <a:off x="0" y="3315221"/>
          <a:ext cx="1993113" cy="45056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IN" sz="2000" kern="1200" dirty="0">
              <a:solidFill>
                <a:schemeClr val="tx1"/>
              </a:solidFill>
            </a:rPr>
            <a:t>Accidents: 4.8L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92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0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1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3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6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27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0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4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2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44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orth.nic.in/road-accident-in-india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file:///D:\BMSCE_class_room_files\Sem_1\idt_proj\id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app" TargetMode="External"/><Relationship Id="rId2" Type="http://schemas.openxmlformats.org/officeDocument/2006/relationships/hyperlink" Target="https://morth.nic.in/road-accident-in-indi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s.google.com/maps" TargetMode="External"/><Relationship Id="rId4" Type="http://schemas.openxmlformats.org/officeDocument/2006/relationships/hyperlink" Target="https://code.visualstudio.com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B642C-EE33-1098-AEFF-4D05E342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41D31-8090-0011-FCEB-84E937F4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</a:t>
            </a:fld>
            <a:endParaRPr lang="en-US" dirty="0"/>
          </a:p>
        </p:txBody>
      </p:sp>
      <p:pic>
        <p:nvPicPr>
          <p:cNvPr id="8" name="Picture 7" descr="VTU-Logo-250×250 – SJB INSTITUTE OF TECHNOLOGY">
            <a:extLst>
              <a:ext uri="{FF2B5EF4-FFF2-40B4-BE49-F238E27FC236}">
                <a16:creationId xmlns:a16="http://schemas.microsoft.com/office/drawing/2014/main" id="{00030804-ADB4-B81D-FE13-F7AC4E49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91" y="182019"/>
            <a:ext cx="1598374" cy="1410483"/>
          </a:xfrm>
          <a:prstGeom prst="rect">
            <a:avLst/>
          </a:prstGeom>
        </p:spPr>
      </p:pic>
      <p:pic>
        <p:nvPicPr>
          <p:cNvPr id="9" name="Picture 8" descr="BMS College of Engineering – Career Paathshala">
            <a:extLst>
              <a:ext uri="{FF2B5EF4-FFF2-40B4-BE49-F238E27FC236}">
                <a16:creationId xmlns:a16="http://schemas.microsoft.com/office/drawing/2014/main" id="{BCE0BB62-1472-DF39-2E94-0A5A07359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421" y="87422"/>
            <a:ext cx="1735376" cy="1568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A4E57E-EB41-6924-CA21-7B507711A15D}"/>
              </a:ext>
            </a:extLst>
          </p:cNvPr>
          <p:cNvSpPr txBox="1"/>
          <p:nvPr/>
        </p:nvSpPr>
        <p:spPr>
          <a:xfrm>
            <a:off x="2673178" y="564595"/>
            <a:ext cx="68481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submitted in partial fulfillment for the award of the Degree of Bachelor of Engineering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662F9-3A0B-D493-8693-3F5EAD728243}"/>
              </a:ext>
            </a:extLst>
          </p:cNvPr>
          <p:cNvSpPr txBox="1"/>
          <p:nvPr/>
        </p:nvSpPr>
        <p:spPr>
          <a:xfrm>
            <a:off x="2156140" y="174885"/>
            <a:ext cx="86236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DESIGN THINKING TOOLS APPLIED FOR AN EMERGENCY RESPONSE APP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9C778A-91C6-C16A-C2D3-593287E26005}"/>
              </a:ext>
            </a:extLst>
          </p:cNvPr>
          <p:cNvSpPr txBox="1"/>
          <p:nvPr/>
        </p:nvSpPr>
        <p:spPr>
          <a:xfrm>
            <a:off x="5814192" y="1210955"/>
            <a:ext cx="47859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in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BDDD7-3A01-4953-87EC-4960427DC103}"/>
              </a:ext>
            </a:extLst>
          </p:cNvPr>
          <p:cNvSpPr txBox="1"/>
          <p:nvPr/>
        </p:nvSpPr>
        <p:spPr>
          <a:xfrm>
            <a:off x="3262212" y="1484096"/>
            <a:ext cx="59223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COMPUTER SCIENCE &amp;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CA280-7F38-3D85-6BB2-FB649AEC417E}"/>
              </a:ext>
            </a:extLst>
          </p:cNvPr>
          <p:cNvSpPr txBox="1"/>
          <p:nvPr/>
        </p:nvSpPr>
        <p:spPr>
          <a:xfrm>
            <a:off x="5817255" y="1970566"/>
            <a:ext cx="54603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by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F226E-E33F-369A-733E-723952FAD04A}"/>
              </a:ext>
            </a:extLst>
          </p:cNvPr>
          <p:cNvSpPr txBox="1"/>
          <p:nvPr/>
        </p:nvSpPr>
        <p:spPr>
          <a:xfrm>
            <a:off x="1540101" y="2338153"/>
            <a:ext cx="3192208" cy="22681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F5762-F58E-81B4-0B98-9EB0BDB2D35D}"/>
              </a:ext>
            </a:extLst>
          </p:cNvPr>
          <p:cNvSpPr txBox="1"/>
          <p:nvPr/>
        </p:nvSpPr>
        <p:spPr>
          <a:xfrm>
            <a:off x="2857649" y="2364337"/>
            <a:ext cx="323752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Shivam Kumar </a:t>
            </a:r>
          </a:p>
          <a:p>
            <a:r>
              <a:rPr lang="en-US" dirty="0"/>
              <a:t>Shashwat Anand</a:t>
            </a:r>
          </a:p>
          <a:p>
            <a:r>
              <a:rPr lang="en-US" dirty="0"/>
              <a:t>Shailja Kriti</a:t>
            </a:r>
          </a:p>
          <a:p>
            <a:r>
              <a:rPr lang="en-US" dirty="0"/>
              <a:t>Shaurya Raj</a:t>
            </a:r>
          </a:p>
          <a:p>
            <a:r>
              <a:rPr lang="en-US" dirty="0"/>
              <a:t>Shreyansh Jain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A82F50-E791-9A8A-B7EF-FDD7BCE47EF8}"/>
              </a:ext>
            </a:extLst>
          </p:cNvPr>
          <p:cNvSpPr txBox="1"/>
          <p:nvPr/>
        </p:nvSpPr>
        <p:spPr>
          <a:xfrm>
            <a:off x="6864365" y="2366154"/>
            <a:ext cx="25621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1BF25CS243</a:t>
            </a:r>
          </a:p>
          <a:p>
            <a:r>
              <a:rPr lang="en-US" dirty="0">
                <a:ea typeface="+mn-lt"/>
                <a:cs typeface="+mn-lt"/>
              </a:rPr>
              <a:t>1BM25CS267</a:t>
            </a:r>
          </a:p>
          <a:p>
            <a:r>
              <a:rPr lang="en-US" dirty="0">
                <a:ea typeface="+mn-lt"/>
                <a:cs typeface="+mn-lt"/>
              </a:rPr>
              <a:t>1BF25CS240</a:t>
            </a:r>
          </a:p>
          <a:p>
            <a:r>
              <a:rPr lang="en-US" dirty="0">
                <a:ea typeface="+mn-lt"/>
                <a:cs typeface="+mn-lt"/>
              </a:rPr>
              <a:t>1BM25CS268</a:t>
            </a:r>
          </a:p>
          <a:p>
            <a:r>
              <a:rPr lang="en-US">
                <a:ea typeface="+mn-lt"/>
                <a:cs typeface="+mn-lt"/>
              </a:rPr>
              <a:t>1BM25CS273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696E57-3A34-C468-80B4-EAB584E8E24B}"/>
              </a:ext>
            </a:extLst>
          </p:cNvPr>
          <p:cNvSpPr txBox="1"/>
          <p:nvPr/>
        </p:nvSpPr>
        <p:spPr>
          <a:xfrm>
            <a:off x="4175015" y="4007824"/>
            <a:ext cx="384633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Under the mentorship of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>
                <a:ea typeface="+mn-lt"/>
                <a:cs typeface="+mn-lt"/>
              </a:rPr>
              <a:t>Santosh S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 Assistant Professor, Department of Mechanical Engineering, BMSCE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8CCBD2-529E-D754-F19E-26395AD78936}"/>
              </a:ext>
            </a:extLst>
          </p:cNvPr>
          <p:cNvSpPr txBox="1"/>
          <p:nvPr/>
        </p:nvSpPr>
        <p:spPr>
          <a:xfrm>
            <a:off x="864239" y="5372789"/>
            <a:ext cx="104614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Department of </a:t>
            </a:r>
            <a:r>
              <a:rPr lang="en-US" b="1" dirty="0">
                <a:ea typeface="+mn-lt"/>
                <a:cs typeface="+mn-lt"/>
              </a:rPr>
              <a:t>COMPUTER SCIENCE &amp; ENGINEERING</a:t>
            </a:r>
            <a:endParaRPr lang="en-US" b="1" dirty="0"/>
          </a:p>
          <a:p>
            <a:pPr algn="ctr"/>
            <a:r>
              <a:rPr lang="en-US" dirty="0">
                <a:ea typeface="+mn-lt"/>
                <a:cs typeface="+mn-lt"/>
              </a:rPr>
              <a:t>B.M.S College of Engineering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(Autonomous College under VTU), Bengaluru- 560019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58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5304BE-B875-BDB3-0461-1146F5E84185}"/>
              </a:ext>
            </a:extLst>
          </p:cNvPr>
          <p:cNvSpPr txBox="1">
            <a:spLocks/>
          </p:cNvSpPr>
          <p:nvPr/>
        </p:nvSpPr>
        <p:spPr>
          <a:xfrm>
            <a:off x="2745839" y="546532"/>
            <a:ext cx="6700322" cy="265880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i="1" u="sng" dirty="0">
                <a:solidFill>
                  <a:schemeClr val="accent6">
                    <a:lumMod val="75000"/>
                  </a:schemeClr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Responder-</a:t>
            </a:r>
          </a:p>
          <a:p>
            <a:pPr algn="l"/>
            <a:r>
              <a:rPr lang="en-US" sz="4400" i="1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Intelligent Personal Safety &amp; Crash Detection System</a:t>
            </a:r>
            <a:br>
              <a:rPr lang="en-US" sz="4400" i="1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endParaRPr lang="en-IN" sz="4400" i="1" dirty="0">
              <a:solidFill>
                <a:srgbClr val="00B050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EE1BC-88A6-8D00-1EEB-ADBD0226E3F0}"/>
              </a:ext>
            </a:extLst>
          </p:cNvPr>
          <p:cNvSpPr txBox="1"/>
          <p:nvPr/>
        </p:nvSpPr>
        <p:spPr>
          <a:xfrm>
            <a:off x="311085" y="2922309"/>
            <a:ext cx="8725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In the fast-moving world of rush, adrenaline and rapidness, people often tend to miss on a thing that matters most to them while on the “safety”. Let’s dive into an analysis and a relative solution for the matter.</a:t>
            </a:r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3074" name="Picture 2" descr="This contains: 10 online safety tips">
            <a:extLst>
              <a:ext uri="{FF2B5EF4-FFF2-40B4-BE49-F238E27FC236}">
                <a16:creationId xmlns:a16="http://schemas.microsoft.com/office/drawing/2014/main" id="{E68CB66D-C222-8434-B163-CB47FB3D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167" y="710937"/>
            <a:ext cx="2610833" cy="155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is may contain: a pedestrian crossing sign is shown in red and black, with an image of a man walking across the street">
            <a:extLst>
              <a:ext uri="{FF2B5EF4-FFF2-40B4-BE49-F238E27FC236}">
                <a16:creationId xmlns:a16="http://schemas.microsoft.com/office/drawing/2014/main" id="{45F2E555-3D3E-1067-339F-58BDEE3AB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7" y="119063"/>
            <a:ext cx="2640142" cy="214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is may contain: a traffic light with the words don't die for reason on it and an image of">
            <a:extLst>
              <a:ext uri="{FF2B5EF4-FFF2-40B4-BE49-F238E27FC236}">
                <a16:creationId xmlns:a16="http://schemas.microsoft.com/office/drawing/2014/main" id="{26191A4E-0D6E-AF14-07F3-71DA08B63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49" b="7061"/>
          <a:stretch>
            <a:fillRect/>
          </a:stretch>
        </p:blipFill>
        <p:spPr bwMode="auto">
          <a:xfrm>
            <a:off x="9386696" y="2922309"/>
            <a:ext cx="2805304" cy="348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his may contain: a hand holding a megaphone with the words drive now text later above it and a car passing by">
            <a:extLst>
              <a:ext uri="{FF2B5EF4-FFF2-40B4-BE49-F238E27FC236}">
                <a16:creationId xmlns:a16="http://schemas.microsoft.com/office/drawing/2014/main" id="{347CDD85-961A-E753-0EBB-255450081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147" y="4028900"/>
            <a:ext cx="5829300" cy="228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86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CA54CAB-2CC0-5AF5-0D09-9FAD153028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375170"/>
              </p:ext>
            </p:extLst>
          </p:nvPr>
        </p:nvGraphicFramePr>
        <p:xfrm>
          <a:off x="6485856" y="1129168"/>
          <a:ext cx="5613206" cy="44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297631D-914A-10F3-89EF-DBB27745E598}"/>
              </a:ext>
            </a:extLst>
          </p:cNvPr>
          <p:cNvSpPr txBox="1"/>
          <p:nvPr/>
        </p:nvSpPr>
        <p:spPr>
          <a:xfrm>
            <a:off x="1470205" y="219334"/>
            <a:ext cx="80361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Arial" panose="020B0604020202020204" pitchFamily="34" charset="0"/>
              </a:rPr>
              <a:t>               </a:t>
            </a:r>
            <a:r>
              <a:rPr lang="en-IN" sz="3200" b="1" i="1" u="sng" dirty="0">
                <a:solidFill>
                  <a:srgbClr val="C0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Arial" panose="020B0604020202020204" pitchFamily="34" charset="0"/>
              </a:rPr>
              <a:t>Empathize </a:t>
            </a:r>
            <a:r>
              <a:rPr lang="en-IN" sz="3200" b="1" i="1" u="sng" dirty="0">
                <a:latin typeface="+mj-lt"/>
              </a:rPr>
              <a:t>:</a:t>
            </a:r>
            <a:r>
              <a:rPr lang="en-IN" sz="3200" dirty="0">
                <a:solidFill>
                  <a:srgbClr val="00206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Understanding the Issues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7AB6D5-5881-8CED-F9C5-33B7396A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832" y="1651108"/>
            <a:ext cx="4339505" cy="3555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Lakhs of road accidents occur in India annually.</a:t>
            </a:r>
            <a:r>
              <a:rPr lang="en-US" altLang="en-US" sz="1400" i="1" dirty="0">
                <a:solidFill>
                  <a:schemeClr val="accent4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1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In severe accidents (solo crashes, late-night driving), victims are often unconscious or unable to reach their phone to dial emergency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1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The significance of “</a:t>
            </a:r>
            <a:r>
              <a:rPr lang="en-US" altLang="en-US" sz="1400" i="1" dirty="0">
                <a:solidFill>
                  <a:schemeClr val="accent4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G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olden Hour” plays a major role between life and death. The first hour after a traumatic injury is critical. Delayed response times drastically reduce survival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i="1" dirty="0">
              <a:solidFill>
                <a:schemeClr val="accent4">
                  <a:lumMod val="50000"/>
                </a:schemeClr>
              </a:solidFill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Analyzing on your driving behaviors before hand may  reduce the occurrence of the accidents.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i="1" dirty="0">
              <a:solidFill>
                <a:schemeClr val="accent4">
                  <a:lumMod val="50000"/>
                </a:schemeClr>
              </a:solidFill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And helping someone in need right after their accident can help save a lot of lives as well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5E04F-A904-6088-027E-7A5246E56AA4}"/>
              </a:ext>
            </a:extLst>
          </p:cNvPr>
          <p:cNvSpPr txBox="1"/>
          <p:nvPr/>
        </p:nvSpPr>
        <p:spPr>
          <a:xfrm>
            <a:off x="6485856" y="4806781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People involved: 6.1L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EDE33-EE82-D893-B557-3E462B5B7628}"/>
              </a:ext>
            </a:extLst>
          </p:cNvPr>
          <p:cNvSpPr txBox="1"/>
          <p:nvPr/>
        </p:nvSpPr>
        <p:spPr>
          <a:xfrm>
            <a:off x="10593890" y="6393882"/>
            <a:ext cx="1747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0B0F0"/>
                </a:solidFill>
              </a:rPr>
              <a:t>Source: </a:t>
            </a:r>
            <a:r>
              <a:rPr lang="en-US" sz="10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Ministry of Road Transport &amp; Highways</a:t>
            </a:r>
            <a:endParaRPr lang="en-IN" sz="1000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015A9-0E1F-25E5-3F48-8B7FD2E14922}"/>
              </a:ext>
            </a:extLst>
          </p:cNvPr>
          <p:cNvSpPr txBox="1"/>
          <p:nvPr/>
        </p:nvSpPr>
        <p:spPr>
          <a:xfrm>
            <a:off x="9292459" y="5789971"/>
            <a:ext cx="3049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92D050"/>
                </a:solidFill>
              </a:rPr>
              <a:t>*Numbers could be higher, these statistics</a:t>
            </a:r>
          </a:p>
          <a:p>
            <a:r>
              <a:rPr lang="en-IN" sz="1100" dirty="0">
                <a:solidFill>
                  <a:srgbClr val="92D050"/>
                </a:solidFill>
              </a:rPr>
              <a:t>are based only upon the reported data.</a:t>
            </a:r>
          </a:p>
        </p:txBody>
      </p:sp>
    </p:spTree>
    <p:extLst>
      <p:ext uri="{BB962C8B-B14F-4D97-AF65-F5344CB8AC3E}">
        <p14:creationId xmlns:p14="http://schemas.microsoft.com/office/powerpoint/2010/main" val="16505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1B0A-32B9-86C9-EDE2-02EF1AA3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262573"/>
            <a:ext cx="9651492" cy="83057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Define</a:t>
            </a:r>
            <a:r>
              <a:rPr lang="en-IN" sz="4000" dirty="0">
                <a:solidFill>
                  <a:schemeClr val="bg2"/>
                </a:solidFill>
                <a:latin typeface="Segoe Script" panose="030B0504020000000003" pitchFamily="66" charset="0"/>
              </a:rPr>
              <a:t>: </a:t>
            </a:r>
            <a:r>
              <a:rPr lang="en-IN" sz="4000" u="sng" cap="none" dirty="0">
                <a:solidFill>
                  <a:schemeClr val="bg2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The Problem</a:t>
            </a:r>
            <a:endParaRPr lang="en-IN" sz="4000" u="sng" dirty="0">
              <a:solidFill>
                <a:schemeClr val="bg2"/>
              </a:solidFill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BA3B66-6E6B-5E0F-4991-FD0A37F53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17" y="1252344"/>
            <a:ext cx="826102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Problem Statement: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 Users need a way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automatically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 alert emergency services and emergency contacts immediately after a crash, specifically when they are physically unable to interact with their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dobe Hebrew" panose="02040503050201020203" pitchFamily="18" charset="-79"/>
              <a:cs typeface="Adobe Hebrew" panose="02040503050201020203" pitchFamily="18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01E6E8-B976-EE18-5DAD-00892A2F0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2"/>
          <a:stretch>
            <a:fillRect/>
          </a:stretch>
        </p:blipFill>
        <p:spPr bwMode="auto">
          <a:xfrm>
            <a:off x="9172279" y="246475"/>
            <a:ext cx="2512322" cy="158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5E7A85-C03C-10FD-4627-7615E3D2C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07" y="2546554"/>
            <a:ext cx="10314041" cy="381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4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48F2-F260-D38D-52C2-C6019B99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1" y="829560"/>
            <a:ext cx="7817885" cy="67213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Ideate:  brainstorming ideas</a:t>
            </a:r>
            <a:endParaRPr lang="en-IN" sz="40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B8836-1786-06C1-2C96-38FCEFF8F851}"/>
              </a:ext>
            </a:extLst>
          </p:cNvPr>
          <p:cNvSpPr txBox="1"/>
          <p:nvPr/>
        </p:nvSpPr>
        <p:spPr>
          <a:xfrm>
            <a:off x="113121" y="2077609"/>
            <a:ext cx="96025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Idea: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Leverage the high-fidelity sensors already present in modern Android smartphones to create a "Virtual Black Box.“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Key Features: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Crash Detection: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Real-time monitoring of G-forces.</a:t>
            </a:r>
          </a:p>
          <a:p>
            <a:pPr lvl="1"/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False-Positive Check: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 10-second countdown with an audible alarm before sending the </a:t>
            </a:r>
            <a:r>
              <a:rPr lang="en-US" dirty="0">
                <a:solidFill>
                  <a:srgbClr val="C00000"/>
                </a:solidFill>
              </a:rPr>
              <a:t>SOS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en-US" dirty="0">
                <a:solidFill>
                  <a:srgbClr val="92D050"/>
                </a:solidFill>
              </a:rPr>
              <a:t>allows user to cancel if safe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  <a:p>
            <a:pPr lvl="1"/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SOS Transmission: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Auto-sends </a:t>
            </a:r>
            <a:r>
              <a:rPr lang="en-US" dirty="0">
                <a:solidFill>
                  <a:srgbClr val="00B050"/>
                </a:solidFill>
              </a:rPr>
              <a:t>GPS coordinates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 contacts + calls emergency services (e.g. 112).</a:t>
            </a:r>
          </a:p>
        </p:txBody>
      </p:sp>
    </p:spTree>
    <p:extLst>
      <p:ext uri="{BB962C8B-B14F-4D97-AF65-F5344CB8AC3E}">
        <p14:creationId xmlns:p14="http://schemas.microsoft.com/office/powerpoint/2010/main" val="277459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4ED5-677F-A188-F0F1-05112E531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1" y="424206"/>
            <a:ext cx="6153111" cy="64633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Hardware utilization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4E05A-5FB0-7CF9-C6C5-DE1B38EF67E0}"/>
              </a:ext>
            </a:extLst>
          </p:cNvPr>
          <p:cNvSpPr txBox="1"/>
          <p:nvPr/>
        </p:nvSpPr>
        <p:spPr>
          <a:xfrm>
            <a:off x="113121" y="2701089"/>
            <a:ext cx="100900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Accelerometer: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en-US" i="1" dirty="0">
                <a:solidFill>
                  <a:schemeClr val="bg2"/>
                </a:solidFill>
              </a:rPr>
              <a:t>Usage:</a:t>
            </a:r>
            <a:r>
              <a:rPr lang="en-US" dirty="0">
                <a:solidFill>
                  <a:schemeClr val="bg2"/>
                </a:solidFill>
              </a:rPr>
              <a:t> Detects sudden deceleration (High G-force spikes) indicative of an impact.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Gyroscope: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en-US" i="1" dirty="0">
                <a:solidFill>
                  <a:schemeClr val="bg2"/>
                </a:solidFill>
              </a:rPr>
              <a:t>Usage:</a:t>
            </a:r>
            <a:r>
              <a:rPr lang="en-US" dirty="0">
                <a:solidFill>
                  <a:schemeClr val="bg2"/>
                </a:solidFill>
              </a:rPr>
              <a:t> Detects violent rotation (rollovers or spinning).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Light/Proximity Sensors: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en-US" i="1" dirty="0">
                <a:solidFill>
                  <a:schemeClr val="bg2"/>
                </a:solidFill>
              </a:rPr>
              <a:t>Usage:</a:t>
            </a:r>
            <a:r>
              <a:rPr lang="en-US" dirty="0">
                <a:solidFill>
                  <a:schemeClr val="bg2"/>
                </a:solidFill>
              </a:rPr>
              <a:t> Context awareness (e.g., detecting if the phone is trapped in a deployed airbag or pocket vs. thrown clear).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Microphone: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en-US" i="1" dirty="0">
                <a:solidFill>
                  <a:schemeClr val="bg2"/>
                </a:solidFill>
              </a:rPr>
              <a:t>Usage:</a:t>
            </a:r>
            <a:r>
              <a:rPr lang="en-US" dirty="0">
                <a:solidFill>
                  <a:schemeClr val="bg2"/>
                </a:solidFill>
              </a:rPr>
              <a:t> Validating the crash via acoustic signature (glass breaking/crunching metal sounds).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699F0-3D73-AE23-C2C6-77531E3E83BF}"/>
              </a:ext>
            </a:extLst>
          </p:cNvPr>
          <p:cNvSpPr txBox="1"/>
          <p:nvPr/>
        </p:nvSpPr>
        <p:spPr>
          <a:xfrm>
            <a:off x="113121" y="1751101"/>
            <a:ext cx="852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Android phones presently already come pre-loaded with a lot of </a:t>
            </a:r>
            <a:r>
              <a:rPr lang="en-IN" dirty="0">
                <a:solidFill>
                  <a:srgbClr val="00B0F0"/>
                </a:solidFill>
              </a:rPr>
              <a:t>sensors</a:t>
            </a:r>
            <a:r>
              <a:rPr lang="en-IN" dirty="0">
                <a:solidFill>
                  <a:schemeClr val="bg2"/>
                </a:solidFill>
              </a:rPr>
              <a:t>, we would just utilize the same in a effective way.</a:t>
            </a:r>
          </a:p>
        </p:txBody>
      </p:sp>
    </p:spTree>
    <p:extLst>
      <p:ext uri="{BB962C8B-B14F-4D97-AF65-F5344CB8AC3E}">
        <p14:creationId xmlns:p14="http://schemas.microsoft.com/office/powerpoint/2010/main" val="87263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4;p19">
            <a:extLst>
              <a:ext uri="{FF2B5EF4-FFF2-40B4-BE49-F238E27FC236}">
                <a16:creationId xmlns:a16="http://schemas.microsoft.com/office/drawing/2014/main" id="{2FC56C35-E37F-F2FC-BFAF-578FC8B69CAC}"/>
              </a:ext>
            </a:extLst>
          </p:cNvPr>
          <p:cNvSpPr/>
          <p:nvPr/>
        </p:nvSpPr>
        <p:spPr>
          <a:xfrm>
            <a:off x="75415" y="3571874"/>
            <a:ext cx="11176668" cy="461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5;p19">
            <a:extLst>
              <a:ext uri="{FF2B5EF4-FFF2-40B4-BE49-F238E27FC236}">
                <a16:creationId xmlns:a16="http://schemas.microsoft.com/office/drawing/2014/main" id="{62A61981-6C9D-05EC-8E69-AEA0D7104410}"/>
              </a:ext>
            </a:extLst>
          </p:cNvPr>
          <p:cNvSpPr txBox="1"/>
          <p:nvPr/>
        </p:nvSpPr>
        <p:spPr>
          <a:xfrm>
            <a:off x="75415" y="3924300"/>
            <a:ext cx="2739750" cy="259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1. Monitor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2" name="Google Shape;156;p19">
            <a:extLst>
              <a:ext uri="{FF2B5EF4-FFF2-40B4-BE49-F238E27FC236}">
                <a16:creationId xmlns:a16="http://schemas.microsoft.com/office/drawing/2014/main" id="{8660F437-DA8F-588C-CDCA-74936A401D86}"/>
              </a:ext>
            </a:extLst>
          </p:cNvPr>
          <p:cNvSpPr txBox="1"/>
          <p:nvPr/>
        </p:nvSpPr>
        <p:spPr>
          <a:xfrm>
            <a:off x="75415" y="4333875"/>
            <a:ext cx="2609285" cy="596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Background service reads sensor data in low-power mode.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3" name="Google Shape;157;p19">
            <a:extLst>
              <a:ext uri="{FF2B5EF4-FFF2-40B4-BE49-F238E27FC236}">
                <a16:creationId xmlns:a16="http://schemas.microsoft.com/office/drawing/2014/main" id="{4A3C76E5-17A6-84C3-BC35-40C65ED18CB8}"/>
              </a:ext>
            </a:extLst>
          </p:cNvPr>
          <p:cNvSpPr txBox="1"/>
          <p:nvPr/>
        </p:nvSpPr>
        <p:spPr>
          <a:xfrm>
            <a:off x="2960150" y="3924300"/>
            <a:ext cx="2739750" cy="259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2. Trigger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4" name="Google Shape;158;p19">
            <a:extLst>
              <a:ext uri="{FF2B5EF4-FFF2-40B4-BE49-F238E27FC236}">
                <a16:creationId xmlns:a16="http://schemas.microsoft.com/office/drawing/2014/main" id="{5FEA0FCC-C828-2525-12AD-46567012BAF9}"/>
              </a:ext>
            </a:extLst>
          </p:cNvPr>
          <p:cNvSpPr txBox="1"/>
          <p:nvPr/>
        </p:nvSpPr>
        <p:spPr>
          <a:xfrm>
            <a:off x="2960150" y="4333875"/>
            <a:ext cx="2609285" cy="596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Algorithm detects &gt;4G impact + Tumble + Velocity Drop.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5" name="Google Shape;159;p19">
            <a:extLst>
              <a:ext uri="{FF2B5EF4-FFF2-40B4-BE49-F238E27FC236}">
                <a16:creationId xmlns:a16="http://schemas.microsoft.com/office/drawing/2014/main" id="{9E067862-8A59-725C-613F-33550FAFDFE6}"/>
              </a:ext>
            </a:extLst>
          </p:cNvPr>
          <p:cNvSpPr txBox="1"/>
          <p:nvPr/>
        </p:nvSpPr>
        <p:spPr>
          <a:xfrm>
            <a:off x="5844886" y="3924300"/>
            <a:ext cx="2739750" cy="259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3. Validate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6" name="Google Shape;160;p19">
            <a:extLst>
              <a:ext uri="{FF2B5EF4-FFF2-40B4-BE49-F238E27FC236}">
                <a16:creationId xmlns:a16="http://schemas.microsoft.com/office/drawing/2014/main" id="{D770E215-2FA1-F263-2AA0-9375F01DF600}"/>
              </a:ext>
            </a:extLst>
          </p:cNvPr>
          <p:cNvSpPr txBox="1"/>
          <p:nvPr/>
        </p:nvSpPr>
        <p:spPr>
          <a:xfrm>
            <a:off x="5844886" y="4333875"/>
            <a:ext cx="2609285" cy="596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10-second countdown alarm. User can cancel if safe.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7" name="Google Shape;161;p19">
            <a:extLst>
              <a:ext uri="{FF2B5EF4-FFF2-40B4-BE49-F238E27FC236}">
                <a16:creationId xmlns:a16="http://schemas.microsoft.com/office/drawing/2014/main" id="{61DAFDCC-BD1B-AB1C-7601-41D3BBA8FC0E}"/>
              </a:ext>
            </a:extLst>
          </p:cNvPr>
          <p:cNvSpPr txBox="1"/>
          <p:nvPr/>
        </p:nvSpPr>
        <p:spPr>
          <a:xfrm>
            <a:off x="8729622" y="3924300"/>
            <a:ext cx="2367301" cy="259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4. Action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8" name="Google Shape;162;p19">
            <a:extLst>
              <a:ext uri="{FF2B5EF4-FFF2-40B4-BE49-F238E27FC236}">
                <a16:creationId xmlns:a16="http://schemas.microsoft.com/office/drawing/2014/main" id="{BDCB2975-6F96-693D-723F-A9B8689FD3CA}"/>
              </a:ext>
            </a:extLst>
          </p:cNvPr>
          <p:cNvSpPr txBox="1"/>
          <p:nvPr/>
        </p:nvSpPr>
        <p:spPr>
          <a:xfrm>
            <a:off x="8729621" y="4333875"/>
            <a:ext cx="2441141" cy="596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Send SMS with Lat/Long. Auto-dial Emergency Services.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9" name="Google Shape;164;p19">
            <a:extLst>
              <a:ext uri="{FF2B5EF4-FFF2-40B4-BE49-F238E27FC236}">
                <a16:creationId xmlns:a16="http://schemas.microsoft.com/office/drawing/2014/main" id="{271BAC45-BE7F-8A33-8E9B-60EF6270AD5A}"/>
              </a:ext>
            </a:extLst>
          </p:cNvPr>
          <p:cNvSpPr/>
          <p:nvPr/>
        </p:nvSpPr>
        <p:spPr>
          <a:xfrm>
            <a:off x="75415" y="3429000"/>
            <a:ext cx="307664" cy="30759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65;p19">
            <a:extLst>
              <a:ext uri="{FF2B5EF4-FFF2-40B4-BE49-F238E27FC236}">
                <a16:creationId xmlns:a16="http://schemas.microsoft.com/office/drawing/2014/main" id="{D2449A24-4078-8AEA-C7BA-0586D1F9D828}"/>
              </a:ext>
            </a:extLst>
          </p:cNvPr>
          <p:cNvSpPr/>
          <p:nvPr/>
        </p:nvSpPr>
        <p:spPr>
          <a:xfrm>
            <a:off x="2960150" y="3429000"/>
            <a:ext cx="307664" cy="30759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66;p19">
            <a:extLst>
              <a:ext uri="{FF2B5EF4-FFF2-40B4-BE49-F238E27FC236}">
                <a16:creationId xmlns:a16="http://schemas.microsoft.com/office/drawing/2014/main" id="{002BAD0F-2D14-5D5F-9C53-3CF65C3B1B17}"/>
              </a:ext>
            </a:extLst>
          </p:cNvPr>
          <p:cNvSpPr/>
          <p:nvPr/>
        </p:nvSpPr>
        <p:spPr>
          <a:xfrm>
            <a:off x="5844886" y="3429000"/>
            <a:ext cx="307664" cy="30759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67;p19">
            <a:extLst>
              <a:ext uri="{FF2B5EF4-FFF2-40B4-BE49-F238E27FC236}">
                <a16:creationId xmlns:a16="http://schemas.microsoft.com/office/drawing/2014/main" id="{F84FC672-E04E-3CE8-66D3-0E2C171C3C6D}"/>
              </a:ext>
            </a:extLst>
          </p:cNvPr>
          <p:cNvSpPr/>
          <p:nvPr/>
        </p:nvSpPr>
        <p:spPr>
          <a:xfrm>
            <a:off x="8729621" y="3429000"/>
            <a:ext cx="307664" cy="30759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8048BD-B9E2-D200-15AB-AA47482E4C88}"/>
              </a:ext>
            </a:extLst>
          </p:cNvPr>
          <p:cNvSpPr txBox="1"/>
          <p:nvPr/>
        </p:nvSpPr>
        <p:spPr>
          <a:xfrm>
            <a:off x="4633614" y="1236681"/>
            <a:ext cx="2132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Software Flow</a:t>
            </a:r>
          </a:p>
        </p:txBody>
      </p:sp>
      <p:pic>
        <p:nvPicPr>
          <p:cNvPr id="1026" name="Picture 2" descr="This may contain: an orange gearwheel with a hand holding a wrench in it's center">
            <a:extLst>
              <a:ext uri="{FF2B5EF4-FFF2-40B4-BE49-F238E27FC236}">
                <a16:creationId xmlns:a16="http://schemas.microsoft.com/office/drawing/2014/main" id="{A53D74A6-A2CD-BBA2-B13A-2363665BC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207" y="0"/>
            <a:ext cx="1689378" cy="17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may contain: two wrenches and gears are connected to each other">
            <a:extLst>
              <a:ext uri="{FF2B5EF4-FFF2-40B4-BE49-F238E27FC236}">
                <a16:creationId xmlns:a16="http://schemas.microsoft.com/office/drawing/2014/main" id="{6D713F30-2473-DEA8-9DBA-189DC54B5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5" y="19100"/>
            <a:ext cx="1689378" cy="168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6A738A-057F-61BC-34A0-ED9C3519B91B}"/>
              </a:ext>
            </a:extLst>
          </p:cNvPr>
          <p:cNvSpPr txBox="1"/>
          <p:nvPr/>
        </p:nvSpPr>
        <p:spPr>
          <a:xfrm>
            <a:off x="4619173" y="320777"/>
            <a:ext cx="2759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Segoe Script" panose="030B0504020000000003" pitchFamily="66" charset="0"/>
              </a:rPr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61965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47CC6A-FEB3-6DE4-D432-C54336B2A62D}"/>
              </a:ext>
            </a:extLst>
          </p:cNvPr>
          <p:cNvSpPr txBox="1"/>
          <p:nvPr/>
        </p:nvSpPr>
        <p:spPr>
          <a:xfrm>
            <a:off x="508463" y="486505"/>
            <a:ext cx="36520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The User Interface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endParaRPr lang="en-IN" b="1" dirty="0">
              <a:solidFill>
                <a:schemeClr val="bg2"/>
              </a:solidFill>
            </a:endParaRPr>
          </a:p>
          <a:p>
            <a:endParaRPr lang="en-I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Home Screen:</a:t>
            </a:r>
            <a:r>
              <a:rPr lang="en-IN" dirty="0">
                <a:solidFill>
                  <a:schemeClr val="bg2"/>
                </a:solidFill>
              </a:rPr>
              <a:t> Large "</a:t>
            </a:r>
            <a:r>
              <a:rPr lang="en-IN" dirty="0">
                <a:solidFill>
                  <a:srgbClr val="00B0F0"/>
                </a:solidFill>
              </a:rPr>
              <a:t>Safety On</a:t>
            </a:r>
            <a:r>
              <a:rPr lang="en-IN" dirty="0">
                <a:solidFill>
                  <a:schemeClr val="bg2"/>
                </a:solidFill>
              </a:rPr>
              <a:t>" toggle button; Status indicator (Green = Monitoring).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Emergency Countdown Screen:</a:t>
            </a:r>
            <a:r>
              <a:rPr lang="en-IN" dirty="0">
                <a:solidFill>
                  <a:schemeClr val="bg2"/>
                </a:solidFill>
              </a:rPr>
              <a:t> High-contrast Red/White interface. Large "</a:t>
            </a:r>
            <a:r>
              <a:rPr lang="en-IN" dirty="0">
                <a:solidFill>
                  <a:srgbClr val="92D050"/>
                </a:solidFill>
              </a:rPr>
              <a:t>I AM OKAY</a:t>
            </a:r>
            <a:r>
              <a:rPr lang="en-IN" dirty="0">
                <a:solidFill>
                  <a:schemeClr val="bg2"/>
                </a:solidFill>
              </a:rPr>
              <a:t>" button to cancel the alarm.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Settings:</a:t>
            </a:r>
            <a:r>
              <a:rPr lang="en-IN" dirty="0">
                <a:solidFill>
                  <a:schemeClr val="bg2"/>
                </a:solidFill>
              </a:rPr>
              <a:t> Add/Edit Emergency Contacts; Adjust sensitivity levels.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54315-A8EE-F651-9484-033225AB6AC8}"/>
              </a:ext>
            </a:extLst>
          </p:cNvPr>
          <p:cNvSpPr txBox="1"/>
          <p:nvPr/>
        </p:nvSpPr>
        <p:spPr>
          <a:xfrm>
            <a:off x="6003637" y="6032941"/>
            <a:ext cx="5503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92D050"/>
                </a:solidFill>
                <a:latin typeface="Adobe Ming Std L" panose="02020300000000000000" pitchFamily="18" charset="-128"/>
                <a:ea typeface="Adobe Ming Std L" panose="02020300000000000000" pitchFamily="18" charset="-128"/>
              </a:rPr>
              <a:t>Interface Preview:</a:t>
            </a:r>
            <a:r>
              <a:rPr lang="en-IN" sz="1600" u="sng" dirty="0">
                <a:solidFill>
                  <a:srgbClr val="92D050"/>
                </a:solidFill>
                <a:latin typeface="Adobe Ming Std L" panose="02020300000000000000" pitchFamily="18" charset="-128"/>
                <a:ea typeface="Adobe Ming Std L" panose="02020300000000000000" pitchFamily="18" charset="-128"/>
              </a:rPr>
              <a:t> </a:t>
            </a:r>
            <a:r>
              <a:rPr lang="en-IN" sz="1600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Responder – </a:t>
            </a:r>
            <a:r>
              <a:rPr lang="en-IN" sz="1600" u="sng" dirty="0">
                <a:solidFill>
                  <a:srgbClr val="00B0F0"/>
                </a:solidFill>
              </a:rPr>
              <a:t>Dark Theme</a:t>
            </a:r>
            <a:endParaRPr lang="en-IN" sz="1600" u="sng" dirty="0">
              <a:solidFill>
                <a:srgbClr val="00B0F0"/>
              </a:solidFill>
              <a:latin typeface="Adobe Ming Std L" panose="02020300000000000000" pitchFamily="18" charset="-128"/>
              <a:ea typeface="Adobe Ming Std L" panose="02020300000000000000" pitchFamily="18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F78435-4668-FD9D-AC98-AE5E723B6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680" y="982980"/>
            <a:ext cx="2344381" cy="4526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896156-B2DB-BAA4-BBAE-412C01490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409" y="982980"/>
            <a:ext cx="2344382" cy="4526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B289E0-B1C7-E6B6-1324-999614C89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280" y="982980"/>
            <a:ext cx="228082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6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C5B3-96CB-C5CD-08A2-E55AD247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99" y="540326"/>
            <a:ext cx="4483146" cy="618837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Additional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EEEBF-1496-D9B0-09E7-A7A6133C0883}"/>
              </a:ext>
            </a:extLst>
          </p:cNvPr>
          <p:cNvSpPr txBox="1"/>
          <p:nvPr/>
        </p:nvSpPr>
        <p:spPr>
          <a:xfrm>
            <a:off x="217019" y="2136338"/>
            <a:ext cx="51389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Driving style analysis: </a:t>
            </a:r>
            <a:r>
              <a:rPr lang="en-IN" dirty="0">
                <a:solidFill>
                  <a:schemeClr val="bg1"/>
                </a:solidFill>
              </a:rPr>
              <a:t>Tracks your driving pattern whether driving a car or a 2-wheeler and determines a certain style and tells about the fields for a safer drive.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Nearby crash report: </a:t>
            </a:r>
            <a:r>
              <a:rPr lang="en-IN" dirty="0">
                <a:solidFill>
                  <a:schemeClr val="bg1"/>
                </a:solidFill>
              </a:rPr>
              <a:t>Using Google maps API and software’s own self-crash detection database, determines nearby crashes.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BF68D8-31AF-EE48-34D7-1B334860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193" y="849745"/>
            <a:ext cx="2362712" cy="445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5C1C5-37C2-FC34-3540-E8B7E0CD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877" y="849745"/>
            <a:ext cx="2285702" cy="445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5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2B59-8480-10EF-A4EA-EBAE0B02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08" y="245096"/>
            <a:ext cx="9606479" cy="62609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Deployment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Google Shape;187;p21">
            <a:extLst>
              <a:ext uri="{FF2B5EF4-FFF2-40B4-BE49-F238E27FC236}">
                <a16:creationId xmlns:a16="http://schemas.microsoft.com/office/drawing/2014/main" id="{3E03EFBC-89EF-8FBE-D63C-E000298AE5CC}"/>
              </a:ext>
            </a:extLst>
          </p:cNvPr>
          <p:cNvSpPr/>
          <p:nvPr/>
        </p:nvSpPr>
        <p:spPr>
          <a:xfrm>
            <a:off x="108605" y="3043218"/>
            <a:ext cx="10930183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8;p21">
            <a:extLst>
              <a:ext uri="{FF2B5EF4-FFF2-40B4-BE49-F238E27FC236}">
                <a16:creationId xmlns:a16="http://schemas.microsoft.com/office/drawing/2014/main" id="{4CEE6527-A871-7FC9-B18E-3AF3A2C916C5}"/>
              </a:ext>
            </a:extLst>
          </p:cNvPr>
          <p:cNvSpPr txBox="1"/>
          <p:nvPr/>
        </p:nvSpPr>
        <p:spPr>
          <a:xfrm>
            <a:off x="108606" y="3395644"/>
            <a:ext cx="25022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1: Calibration</a:t>
            </a:r>
            <a:endParaRPr dirty="0"/>
          </a:p>
        </p:txBody>
      </p:sp>
      <p:sp>
        <p:nvSpPr>
          <p:cNvPr id="6" name="Google Shape;189;p21">
            <a:extLst>
              <a:ext uri="{FF2B5EF4-FFF2-40B4-BE49-F238E27FC236}">
                <a16:creationId xmlns:a16="http://schemas.microsoft.com/office/drawing/2014/main" id="{E2E8C6A9-214C-4E20-4D44-B39B659BFC4A}"/>
              </a:ext>
            </a:extLst>
          </p:cNvPr>
          <p:cNvSpPr txBox="1"/>
          <p:nvPr/>
        </p:nvSpPr>
        <p:spPr>
          <a:xfrm>
            <a:off x="108606" y="3805219"/>
            <a:ext cx="2383066" cy="7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Internal Alpha</a:t>
            </a:r>
            <a:b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Data collection from 50 devices to tune sensor sensitivity and filter out potholes vs. real impacts.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Google Shape;190;p21">
            <a:extLst>
              <a:ext uri="{FF2B5EF4-FFF2-40B4-BE49-F238E27FC236}">
                <a16:creationId xmlns:a16="http://schemas.microsoft.com/office/drawing/2014/main" id="{C7C8DBD8-0A21-BB67-5D4E-242CFEFBA274}"/>
              </a:ext>
            </a:extLst>
          </p:cNvPr>
          <p:cNvSpPr txBox="1"/>
          <p:nvPr/>
        </p:nvSpPr>
        <p:spPr>
          <a:xfrm>
            <a:off x="2993341" y="3395644"/>
            <a:ext cx="25022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2: Pilot</a:t>
            </a:r>
            <a:endParaRPr/>
          </a:p>
        </p:txBody>
      </p:sp>
      <p:sp>
        <p:nvSpPr>
          <p:cNvPr id="8" name="Google Shape;191;p21">
            <a:extLst>
              <a:ext uri="{FF2B5EF4-FFF2-40B4-BE49-F238E27FC236}">
                <a16:creationId xmlns:a16="http://schemas.microsoft.com/office/drawing/2014/main" id="{E2EC1C22-FEBA-EFFB-C2B4-FD910DD32384}"/>
              </a:ext>
            </a:extLst>
          </p:cNvPr>
          <p:cNvSpPr txBox="1"/>
          <p:nvPr/>
        </p:nvSpPr>
        <p:spPr>
          <a:xfrm>
            <a:off x="2993340" y="3830290"/>
            <a:ext cx="2383066" cy="7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Closed Beta</a:t>
            </a:r>
            <a:b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Rollout to 500 users in a single city. Integration test with local SMS gateways and latency checks.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Google Shape;192;p21">
            <a:extLst>
              <a:ext uri="{FF2B5EF4-FFF2-40B4-BE49-F238E27FC236}">
                <a16:creationId xmlns:a16="http://schemas.microsoft.com/office/drawing/2014/main" id="{82778D3C-72CA-CB89-760F-F01CD10B737B}"/>
              </a:ext>
            </a:extLst>
          </p:cNvPr>
          <p:cNvSpPr txBox="1"/>
          <p:nvPr/>
        </p:nvSpPr>
        <p:spPr>
          <a:xfrm>
            <a:off x="5878077" y="3395644"/>
            <a:ext cx="25022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3: Launch</a:t>
            </a:r>
            <a:endParaRPr/>
          </a:p>
        </p:txBody>
      </p:sp>
      <p:sp>
        <p:nvSpPr>
          <p:cNvPr id="10" name="Google Shape;193;p21">
            <a:extLst>
              <a:ext uri="{FF2B5EF4-FFF2-40B4-BE49-F238E27FC236}">
                <a16:creationId xmlns:a16="http://schemas.microsoft.com/office/drawing/2014/main" id="{972E4606-90C8-30A1-F037-B04B6E0E6FA7}"/>
              </a:ext>
            </a:extLst>
          </p:cNvPr>
          <p:cNvSpPr txBox="1"/>
          <p:nvPr/>
        </p:nvSpPr>
        <p:spPr>
          <a:xfrm>
            <a:off x="5878076" y="3805219"/>
            <a:ext cx="2383066" cy="7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Public Release</a:t>
            </a:r>
            <a:b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Regional Android launch. Data collection from various conditions and enhancements.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Google Shape;194;p21">
            <a:extLst>
              <a:ext uri="{FF2B5EF4-FFF2-40B4-BE49-F238E27FC236}">
                <a16:creationId xmlns:a16="http://schemas.microsoft.com/office/drawing/2014/main" id="{9E39DEE3-F2FA-2422-0908-76E8924DD692}"/>
              </a:ext>
            </a:extLst>
          </p:cNvPr>
          <p:cNvSpPr txBox="1"/>
          <p:nvPr/>
        </p:nvSpPr>
        <p:spPr>
          <a:xfrm>
            <a:off x="8762812" y="3395644"/>
            <a:ext cx="25022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4: Scale</a:t>
            </a:r>
            <a:endParaRPr/>
          </a:p>
        </p:txBody>
      </p:sp>
      <p:sp>
        <p:nvSpPr>
          <p:cNvPr id="12" name="Google Shape;195;p21">
            <a:extLst>
              <a:ext uri="{FF2B5EF4-FFF2-40B4-BE49-F238E27FC236}">
                <a16:creationId xmlns:a16="http://schemas.microsoft.com/office/drawing/2014/main" id="{978F0AF7-9FC9-ECD1-2EC2-640C4800B203}"/>
              </a:ext>
            </a:extLst>
          </p:cNvPr>
          <p:cNvSpPr txBox="1"/>
          <p:nvPr/>
        </p:nvSpPr>
        <p:spPr>
          <a:xfrm>
            <a:off x="8762812" y="3805219"/>
            <a:ext cx="2383066" cy="7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Large Scale</a:t>
            </a:r>
            <a:b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International data launch, transiting from Google Maps API to SpaceX Live Imagery.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Google Shape;197;p21">
            <a:extLst>
              <a:ext uri="{FF2B5EF4-FFF2-40B4-BE49-F238E27FC236}">
                <a16:creationId xmlns:a16="http://schemas.microsoft.com/office/drawing/2014/main" id="{CDAA63E2-D1D2-36C0-C32B-916AD05F7654}"/>
              </a:ext>
            </a:extLst>
          </p:cNvPr>
          <p:cNvSpPr/>
          <p:nvPr/>
        </p:nvSpPr>
        <p:spPr>
          <a:xfrm>
            <a:off x="108605" y="2900344"/>
            <a:ext cx="28099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98;p21">
            <a:extLst>
              <a:ext uri="{FF2B5EF4-FFF2-40B4-BE49-F238E27FC236}">
                <a16:creationId xmlns:a16="http://schemas.microsoft.com/office/drawing/2014/main" id="{BA0DD386-D1FC-0B9C-E4D6-F7843BB9E535}"/>
              </a:ext>
            </a:extLst>
          </p:cNvPr>
          <p:cNvSpPr/>
          <p:nvPr/>
        </p:nvSpPr>
        <p:spPr>
          <a:xfrm>
            <a:off x="2993340" y="2900344"/>
            <a:ext cx="28099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99;p21">
            <a:extLst>
              <a:ext uri="{FF2B5EF4-FFF2-40B4-BE49-F238E27FC236}">
                <a16:creationId xmlns:a16="http://schemas.microsoft.com/office/drawing/2014/main" id="{E9B74B18-8FBD-F2E2-76DE-84096154904C}"/>
              </a:ext>
            </a:extLst>
          </p:cNvPr>
          <p:cNvSpPr/>
          <p:nvPr/>
        </p:nvSpPr>
        <p:spPr>
          <a:xfrm>
            <a:off x="5878076" y="2900344"/>
            <a:ext cx="28099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00;p21">
            <a:extLst>
              <a:ext uri="{FF2B5EF4-FFF2-40B4-BE49-F238E27FC236}">
                <a16:creationId xmlns:a16="http://schemas.microsoft.com/office/drawing/2014/main" id="{75ABC6B6-30DD-63D5-C89E-701B350E9675}"/>
              </a:ext>
            </a:extLst>
          </p:cNvPr>
          <p:cNvSpPr/>
          <p:nvPr/>
        </p:nvSpPr>
        <p:spPr>
          <a:xfrm>
            <a:off x="8762811" y="2900344"/>
            <a:ext cx="28099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1EDA11-58AD-B747-BF56-8E4A3126AB05}"/>
              </a:ext>
            </a:extLst>
          </p:cNvPr>
          <p:cNvSpPr txBox="1"/>
          <p:nvPr/>
        </p:nvSpPr>
        <p:spPr>
          <a:xfrm>
            <a:off x="108605" y="1260332"/>
            <a:ext cx="3055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2"/>
                </a:solidFill>
              </a:rPr>
              <a:t>Phase-Wise Deployment</a:t>
            </a:r>
          </a:p>
        </p:txBody>
      </p:sp>
    </p:spTree>
    <p:extLst>
      <p:ext uri="{BB962C8B-B14F-4D97-AF65-F5344CB8AC3E}">
        <p14:creationId xmlns:p14="http://schemas.microsoft.com/office/powerpoint/2010/main" val="289129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5EACF6-4AFB-93BA-4765-AFCCCD402B67}"/>
              </a:ext>
            </a:extLst>
          </p:cNvPr>
          <p:cNvSpPr txBox="1"/>
          <p:nvPr/>
        </p:nvSpPr>
        <p:spPr>
          <a:xfrm>
            <a:off x="254525" y="2059394"/>
            <a:ext cx="10887958" cy="2739211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2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Impact &amp; Future Scope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Impact:</a:t>
            </a:r>
            <a:r>
              <a:rPr lang="en-US" dirty="0">
                <a:solidFill>
                  <a:schemeClr val="bg2"/>
                </a:solidFill>
              </a:rPr>
              <a:t> Reduces emergency response time, potentially saving lives during the "Golden Hour."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Scalability:</a:t>
            </a:r>
            <a:r>
              <a:rPr lang="en-US" dirty="0">
                <a:solidFill>
                  <a:schemeClr val="bg2"/>
                </a:solidFill>
              </a:rPr>
              <a:t> Can be integrated into ride-sharing apps (Uber/Lyft) or fleet management software.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Future Tech:</a:t>
            </a:r>
            <a:r>
              <a:rPr lang="en-US" dirty="0">
                <a:solidFill>
                  <a:schemeClr val="bg2"/>
                </a:solidFill>
              </a:rPr>
              <a:t> Integration with car Bluetooth systems for more accurate data.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17E3-0ACC-77D3-1F27-D4ED26F9D9CE}"/>
              </a:ext>
            </a:extLst>
          </p:cNvPr>
          <p:cNvSpPr txBox="1"/>
          <p:nvPr/>
        </p:nvSpPr>
        <p:spPr>
          <a:xfrm>
            <a:off x="254525" y="443059"/>
            <a:ext cx="287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3001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D0E746-7877-CD22-F527-3F5C98A4CF96}"/>
              </a:ext>
            </a:extLst>
          </p:cNvPr>
          <p:cNvSpPr txBox="1"/>
          <p:nvPr/>
        </p:nvSpPr>
        <p:spPr>
          <a:xfrm>
            <a:off x="310896" y="539496"/>
            <a:ext cx="2230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References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E33C4-461B-0E47-0AD8-7CDB63B491CD}"/>
              </a:ext>
            </a:extLst>
          </p:cNvPr>
          <p:cNvSpPr txBox="1"/>
          <p:nvPr/>
        </p:nvSpPr>
        <p:spPr>
          <a:xfrm>
            <a:off x="566928" y="2057400"/>
            <a:ext cx="105369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Data used in pie charts and graphs: </a:t>
            </a:r>
            <a:r>
              <a:rPr lang="en-US" dirty="0">
                <a:hlinkClick r:id="rId2"/>
              </a:rPr>
              <a:t>Ministry of Road Transport &amp; Highways, Government of India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AI Engine used for data integration and application build-up: </a:t>
            </a:r>
            <a:r>
              <a:rPr lang="en-IN" dirty="0">
                <a:hlinkClick r:id="rId3"/>
              </a:rPr>
              <a:t>Google Gemini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IDE used for program development: </a:t>
            </a:r>
            <a:r>
              <a:rPr lang="en-US" dirty="0">
                <a:hlinkClick r:id="rId4"/>
              </a:rPr>
              <a:t>Visual Studio Code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Maps API for crash reporting: </a:t>
            </a:r>
            <a:r>
              <a:rPr lang="en-IN" dirty="0">
                <a:hlinkClick r:id="rId5"/>
              </a:rPr>
              <a:t>Google Maps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41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7729C-655F-CD3F-AFE3-D1C9074E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7913-F66F-259F-1333-312014AF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4CCE6-70E9-87E6-7506-A46706E1EA7F}"/>
              </a:ext>
            </a:extLst>
          </p:cNvPr>
          <p:cNvSpPr txBox="1"/>
          <p:nvPr/>
        </p:nvSpPr>
        <p:spPr>
          <a:xfrm>
            <a:off x="3346516" y="2545237"/>
            <a:ext cx="4631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>
                <a:solidFill>
                  <a:schemeClr val="accent1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419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908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Adobe Fan Heiti Std B</vt:lpstr>
      <vt:lpstr>Adobe Gothic Std B</vt:lpstr>
      <vt:lpstr>Adobe Hebrew</vt:lpstr>
      <vt:lpstr>Adobe Heiti Std R</vt:lpstr>
      <vt:lpstr>Adobe Ming Std L</vt:lpstr>
      <vt:lpstr>Adobe Myungjo Std M</vt:lpstr>
      <vt:lpstr>Arial</vt:lpstr>
      <vt:lpstr>Avenir Next LT Pro</vt:lpstr>
      <vt:lpstr>Avenir Next LT Pro Light</vt:lpstr>
      <vt:lpstr>Calibri</vt:lpstr>
      <vt:lpstr>Comic Sans MS</vt:lpstr>
      <vt:lpstr>Segoe Script</vt:lpstr>
      <vt:lpstr>Urbanist</vt:lpstr>
      <vt:lpstr>GradientRiseVTI</vt:lpstr>
      <vt:lpstr>PowerPoint Presentation</vt:lpstr>
      <vt:lpstr>PowerPoint Presentation</vt:lpstr>
      <vt:lpstr>PowerPoint Presentation</vt:lpstr>
      <vt:lpstr>Define: The Problem</vt:lpstr>
      <vt:lpstr>Ideate:  brainstorming ideas</vt:lpstr>
      <vt:lpstr>Hardware utilization</vt:lpstr>
      <vt:lpstr>PowerPoint Presentation</vt:lpstr>
      <vt:lpstr>PowerPoint Presentation</vt:lpstr>
      <vt:lpstr>Additional Features</vt:lpstr>
      <vt:lpstr>Deployment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Kumar</dc:creator>
  <cp:lastModifiedBy>shouryaraj2969@gmail.com</cp:lastModifiedBy>
  <cp:revision>184</cp:revision>
  <dcterms:created xsi:type="dcterms:W3CDTF">2026-01-02T14:07:43Z</dcterms:created>
  <dcterms:modified xsi:type="dcterms:W3CDTF">2026-02-09T18:23:44Z</dcterms:modified>
</cp:coreProperties>
</file>